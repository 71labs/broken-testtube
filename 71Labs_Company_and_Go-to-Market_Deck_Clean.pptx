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0ec80b7e154764" /><Relationship Type="http://schemas.openxmlformats.org/officeDocument/2006/relationships/extended-properties" Target="/docProps/app.xml" Id="Reedd9c9fda574db0" /><Relationship Type="http://schemas.openxmlformats.org/officeDocument/2006/relationships/officeDocument" Target="/ppt/presentation.xml" Id="Rb795f115e14c46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e33fbd4e754f8c"/>
  </p:sldMasterIdLst>
  <p:notesMasterIdLst>
    <p:notesMasterId xmlns:r="http://schemas.openxmlformats.org/officeDocument/2006/relationships" r:id="R0ecfea27247c44bf"/>
  </p:notesMasterIdLst>
  <p:sldIdLst>
    <p:sldId xmlns:r="http://schemas.openxmlformats.org/officeDocument/2006/relationships" id="256" r:id="Ra7eb9c2666f14487"/>
    <p:sldId xmlns:r="http://schemas.openxmlformats.org/officeDocument/2006/relationships" id="257" r:id="R09b93bb824064bfd"/>
    <p:sldId xmlns:r="http://schemas.openxmlformats.org/officeDocument/2006/relationships" id="258" r:id="Race1877176b24dc9"/>
    <p:sldId xmlns:r="http://schemas.openxmlformats.org/officeDocument/2006/relationships" id="259" r:id="Rcb8c21c4403246f3"/>
    <p:sldId xmlns:r="http://schemas.openxmlformats.org/officeDocument/2006/relationships" id="260" r:id="R889fb63c4ed446d1"/>
    <p:sldId xmlns:r="http://schemas.openxmlformats.org/officeDocument/2006/relationships" id="261" r:id="Rda823afdf3634370"/>
    <p:sldId xmlns:r="http://schemas.openxmlformats.org/officeDocument/2006/relationships" id="262" r:id="R37bf9fbcce70405c"/>
    <p:sldId xmlns:r="http://schemas.openxmlformats.org/officeDocument/2006/relationships" id="263" r:id="R8669291290c54b33"/>
    <p:sldId xmlns:r="http://schemas.openxmlformats.org/officeDocument/2006/relationships" id="264" r:id="R3c93ec26aee040d3"/>
    <p:sldId xmlns:r="http://schemas.openxmlformats.org/officeDocument/2006/relationships" id="265" r:id="R6cb3755081b247de"/>
    <p:sldId xmlns:r="http://schemas.openxmlformats.org/officeDocument/2006/relationships" id="266" r:id="Rf654fbaad8b444ee"/>
    <p:sldId xmlns:r="http://schemas.openxmlformats.org/officeDocument/2006/relationships" id="267" r:id="R6054604d2c2241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145b6248334bf5" /><Relationship Type="http://schemas.openxmlformats.org/officeDocument/2006/relationships/slideMaster" Target="/ppt/slideMasters/slideMaster1.xml" Id="Rb5e33fbd4e754f8c" /><Relationship Type="http://schemas.openxmlformats.org/officeDocument/2006/relationships/notesMaster" Target="/ppt/notesMasters/notesMaster1.xml" Id="R0ecfea27247c44bf" /><Relationship Type="http://schemas.openxmlformats.org/officeDocument/2006/relationships/presProps" Target="/ppt/presProps.xml" Id="R462957be034f4dca" /><Relationship Type="http://schemas.openxmlformats.org/officeDocument/2006/relationships/tableStyles" Target="/ppt/tableStyles.xml" Id="R74dc73399b1846eb" /><Relationship Type="http://schemas.openxmlformats.org/officeDocument/2006/relationships/slide" Target="/ppt/slides/slide1.xml" Id="Ra7eb9c2666f14487" /><Relationship Type="http://schemas.openxmlformats.org/officeDocument/2006/relationships/slide" Target="/ppt/slides/slide2.xml" Id="R09b93bb824064bfd" /><Relationship Type="http://schemas.openxmlformats.org/officeDocument/2006/relationships/slide" Target="/ppt/slides/slide3.xml" Id="Race1877176b24dc9" /><Relationship Type="http://schemas.openxmlformats.org/officeDocument/2006/relationships/slide" Target="/ppt/slides/slide4.xml" Id="Rcb8c21c4403246f3" /><Relationship Type="http://schemas.openxmlformats.org/officeDocument/2006/relationships/slide" Target="/ppt/slides/slide5.xml" Id="R889fb63c4ed446d1" /><Relationship Type="http://schemas.openxmlformats.org/officeDocument/2006/relationships/slide" Target="/ppt/slides/slide6.xml" Id="Rda823afdf3634370" /><Relationship Type="http://schemas.openxmlformats.org/officeDocument/2006/relationships/slide" Target="/ppt/slides/slide7.xml" Id="R37bf9fbcce70405c" /><Relationship Type="http://schemas.openxmlformats.org/officeDocument/2006/relationships/slide" Target="/ppt/slides/slide8.xml" Id="R8669291290c54b33" /><Relationship Type="http://schemas.openxmlformats.org/officeDocument/2006/relationships/slide" Target="/ppt/slides/slide9.xml" Id="R3c93ec26aee040d3" /><Relationship Type="http://schemas.openxmlformats.org/officeDocument/2006/relationships/slide" Target="/ppt/slides/slide10.xml" Id="R6cb3755081b247de" /><Relationship Type="http://schemas.openxmlformats.org/officeDocument/2006/relationships/slide" Target="/ppt/slides/slide11.xml" Id="Rf654fbaad8b444ee" /><Relationship Type="http://schemas.openxmlformats.org/officeDocument/2006/relationships/slide" Target="/ppt/slides/slide12.xml" Id="R6054604d2c2241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a38a11dd4946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dbf8ca72b14915" /><Relationship Type="http://schemas.openxmlformats.org/officeDocument/2006/relationships/notesMaster" Target="/ppt/notesMasters/notesMaster1.xml" Id="R2ed0ee1d5ff74f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ba783af68846d2" /><Relationship Type="http://schemas.openxmlformats.org/officeDocument/2006/relationships/notesMaster" Target="/ppt/notesMasters/notesMaster1.xml" Id="Ra93dada16ec943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5176634aac48bf" /><Relationship Type="http://schemas.openxmlformats.org/officeDocument/2006/relationships/notesMaster" Target="/ppt/notesMasters/notesMaster1.xml" Id="Rf743b2beb0e442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38ae1032024bed" /><Relationship Type="http://schemas.openxmlformats.org/officeDocument/2006/relationships/notesMaster" Target="/ppt/notesMasters/notesMaster1.xml" Id="R1311e372122248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1782018e834821" /><Relationship Type="http://schemas.openxmlformats.org/officeDocument/2006/relationships/notesMaster" Target="/ppt/notesMasters/notesMaster1.xml" Id="Re0e7851f722849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b519e61da34cc8" /><Relationship Type="http://schemas.openxmlformats.org/officeDocument/2006/relationships/notesMaster" Target="/ppt/notesMasters/notesMaster1.xml" Id="Raec5fc2cc0d944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4bab8061f840a8" /><Relationship Type="http://schemas.openxmlformats.org/officeDocument/2006/relationships/notesMaster" Target="/ppt/notesMasters/notesMaster1.xml" Id="R8c243144894d45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81b08d472e4aaa" /><Relationship Type="http://schemas.openxmlformats.org/officeDocument/2006/relationships/notesMaster" Target="/ppt/notesMasters/notesMaster1.xml" Id="R5c9668ebe1ce41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650d07a97f4834" /><Relationship Type="http://schemas.openxmlformats.org/officeDocument/2006/relationships/notesMaster" Target="/ppt/notesMasters/notesMaster1.xml" Id="Reac33676285a40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e243e7383e462d" /><Relationship Type="http://schemas.openxmlformats.org/officeDocument/2006/relationships/notesMaster" Target="/ppt/notesMasters/notesMaster1.xml" Id="Rfc7d1d14e44a49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6657f79ed541ff" /><Relationship Type="http://schemas.openxmlformats.org/officeDocument/2006/relationships/notesMaster" Target="/ppt/notesMasters/notesMaster1.xml" Id="Rdca18579138543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014e14954d4e59" /><Relationship Type="http://schemas.openxmlformats.org/officeDocument/2006/relationships/notesMaster" Target="/ppt/notesMasters/notesMaster1.xml" Id="Re5b5eda924854d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 context: OpenAI expanded consulting partnerships and embedded specialists to help enterprises integrate AI into workflows. Source: Reuters, 21 April 2026, https://www.reuters.com/business/openai-leans-global-consultancies-expand-codex-use-large-companies-2026-04-21/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96d0f339a941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32c5eb3a2b4acf" /><Relationship Type="http://schemas.openxmlformats.org/officeDocument/2006/relationships/slideLayout" Target="/ppt/slideLayouts/slideLayout1.xml" Id="R458fe4c2d64943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8fe4c2d64943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4733649fd45ef" /><Relationship Type="http://schemas.openxmlformats.org/officeDocument/2006/relationships/notesSlide" Target="/ppt/notesSlides/notesSlide1.xml" Id="Re684f08d89c848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9ae3b06ee4305" /><Relationship Type="http://schemas.openxmlformats.org/officeDocument/2006/relationships/notesSlide" Target="/ppt/notesSlides/notesSlide2.xml" Id="R951dc8c632c145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6b9b798cd4da7" /><Relationship Type="http://schemas.openxmlformats.org/officeDocument/2006/relationships/notesSlide" Target="/ppt/notesSlides/notesSlide3.xml" Id="Rd6ec040ce3904e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a988079634070" /><Relationship Type="http://schemas.openxmlformats.org/officeDocument/2006/relationships/notesSlide" Target="/ppt/notesSlides/notesSlide4.xml" Id="R8e73df6a626b44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79e46b81d480c" /><Relationship Type="http://schemas.openxmlformats.org/officeDocument/2006/relationships/notesSlide" Target="/ppt/notesSlides/notesSlide5.xml" Id="Rfa00227d2a0845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b1c28201b463f" /><Relationship Type="http://schemas.openxmlformats.org/officeDocument/2006/relationships/notesSlide" Target="/ppt/notesSlides/notesSlide6.xml" Id="R99dc6e7f9ab641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cc7e62e5f40b9" /><Relationship Type="http://schemas.openxmlformats.org/officeDocument/2006/relationships/notesSlide" Target="/ppt/notesSlides/notesSlide7.xml" Id="Rfa91d45fc72347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ac7691d8b4e4d" /><Relationship Type="http://schemas.openxmlformats.org/officeDocument/2006/relationships/notesSlide" Target="/ppt/notesSlides/notesSlide8.xml" Id="R721816f366be4a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de6e89d894637" /><Relationship Type="http://schemas.openxmlformats.org/officeDocument/2006/relationships/notesSlide" Target="/ppt/notesSlides/notesSlide9.xml" Id="R6f91af487b7c4a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b1aea641b4e91" /><Relationship Type="http://schemas.openxmlformats.org/officeDocument/2006/relationships/chart" Target="/ppt/slides/charts/chart1.xml" Id="R323335c26e304368" /><Relationship Type="http://schemas.openxmlformats.org/officeDocument/2006/relationships/notesSlide" Target="/ppt/notesSlides/notesSlide10.xml" Id="Rc594ad52da884c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5ea2ee2b84b08" /><Relationship Type="http://schemas.openxmlformats.org/officeDocument/2006/relationships/notesSlide" Target="/ppt/notesSlides/notesSlide11.xml" Id="R7c018dafafe34a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9b91bc0944424" /><Relationship Type="http://schemas.openxmlformats.org/officeDocument/2006/relationships/notesSlide" Target="/ppt/notesSlides/notesSlide12.xml" Id="Raec3456558324dc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Booked revenue ($000)</c:v>
          </c:tx>
          <c:spPr>
            <a:solidFill xmlns:a="http://schemas.openxmlformats.org/drawingml/2006/main">
              <a:srgbClr val="1FC762"/>
            </a:solidFill>
          </c:spPr>
          <c:cat>
            <c:strRef>
              <c:f>'Chart Data'!$A$2:$A$5</c:f>
              <c:strCache>
                <c:ptCount val="4"/>
                <c:pt idx="0">
                  <c:v>3 validation sprints</c:v>
                </c:pt>
                <c:pt idx="1">
                  <c:v>2 AI implementations</c:v>
                </c:pt>
                <c:pt idx="2">
                  <c:v>1 venture MVP</c:v>
                </c:pt>
                <c:pt idx="3">
                  <c:v>Support retainers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12</c:v>
                </c:pt>
                <c:pt idx="1">
                  <c:v>20</c:v>
                </c:pt>
                <c:pt idx="2">
                  <c:v>15</c:v>
                </c:pt>
                <c:pt idx="3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3FFC9-F981-4EDC-B2E1-D7C9AFE2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EF45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C8EF45"/>
                </a:solidFill>
                <a:latin typeface="Nimbus Sans"/>
                <a:ea typeface="Nimbus Sans"/>
                <a:cs typeface="Nimbus Sans"/>
              </a:rPr>
              <a:t>71LABS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F98DE-1A68-4D7D-9DA8-7D4BA702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800100"/>
            <a:ext cx="314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0" b="0">
                <a:solidFill>
                  <a:srgbClr val="234638"/>
                </a:solidFill>
                <a:latin typeface="Nimbus Roman"/>
                <a:ea typeface="Nimbus Roman"/>
                <a:cs typeface="Nimbus Roman"/>
              </a:defRPr>
            </a:pPr>
            <a:r>
              <a:rPr sz="13500" b="0">
                <a:solidFill>
                  <a:srgbClr val="234638"/>
                </a:solidFill>
                <a:latin typeface="Nimbus Roman"/>
                <a:ea typeface="Nimbus Roman"/>
                <a:cs typeface="Nimbus Roman"/>
              </a:rPr>
              <a:t>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78A6B-0F94-478C-824A-47F22573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defRPr>
            </a:pPr>
            <a:r>
              <a:rPr sz="435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rPr>
              <a:t>Applied intelligence.</a:t>
            </a:r>
          </a:p>
          <a:p xmlns:a="http://schemas.openxmlformats.org/drawingml/2006/main">
            <a:pPr algn="l">
              <a:defRPr sz="435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defRPr>
            </a:pPr>
            <a:r>
              <a:rPr sz="435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rPr>
              <a:t>Products that move.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339F4-6917-4A16-8824-F8B5BD95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0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553C4-534F-4D32-AD40-5D723264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8E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DDE8E1"/>
                </a:solidFill>
                <a:latin typeface="Nimbus Sans"/>
                <a:ea typeface="Nimbus Sans"/>
                <a:cs typeface="Nimbus Sans"/>
              </a:rPr>
              <a:t>Company and go-to-market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F4143-8701-4A2A-8EFA-75B560A0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AE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AE"/>
                </a:solidFill>
                <a:latin typeface="Nimbus Sans"/>
                <a:ea typeface="Nimbus Sans"/>
                <a:cs typeface="Nimbus Sans"/>
              </a:rPr>
              <a:t>October–December 2026</a:t>
            </a:r>
          </a:p>
        </p:txBody>
      </p:sp>
    </p:spTree>
    <p:extLst>
      <p:ext uri="{BB962C8B-B14F-4D97-AF65-F5344CB8AC3E}">
        <p14:creationId xmlns:p14="http://schemas.microsoft.com/office/powerpoint/2010/main" val="18240011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1C9053-4545-4CDA-B70F-25A12183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71LABS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EB8EB-98E9-4D79-ABA4-3715EE19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1B506-BAC3-4115-A431-7607A7FD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A product and R&amp;D studio built for ambitious ideas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85C03-C492-40D5-9A1A-199939AE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71Labs helps startups and organizations research, design and build technology products with one compact senior team.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45EB7-9155-475A-A01B-19F797E1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59614-85AA-4F91-8C83-BA10C32A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9BFEF-E4CC-412D-8FA1-F672D9AD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333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2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Applied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91F68-82D4-4DFF-99DF-EBC0C735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Workflow systems that remove repetitive work and improve customer operations.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AE51A-5406-45E4-B545-254981B2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52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94FB1-6903-455A-9FF8-2BA5DC87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528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333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2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Digital products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38E21-4B40-420A-916B-282843F5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053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Investor-ready MVPs, internal platforms and customer-facing software.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DFFA9-448E-4720-BF28-CB1F3B1C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52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5CB99-2AC0-479D-9A57-D0623398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528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333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2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Emerging technology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4E124-A09D-48E0-8031-F7355CDB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053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Fintech and blockchain products where strong architecture matters early.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816E0-7C2A-4E6B-A21B-55BCB38A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0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02A20"/>
                </a:solidFill>
                <a:latin typeface="Nimbus Sans"/>
                <a:ea typeface="Nimbus Sans"/>
                <a:cs typeface="Nimbus Sans"/>
              </a:rPr>
              <a:t>Client work funds the lab. Research builds authority. Reusable technology improves margins.</a:t>
            </a:r>
          </a:p>
        </p:txBody>
      </p:sp>
    </p:spTree>
    <p:extLst>
      <p:ext uri="{BB962C8B-B14F-4D97-AF65-F5344CB8AC3E}">
        <p14:creationId xmlns:p14="http://schemas.microsoft.com/office/powerpoint/2010/main" val="15547934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A4575-6AF8-4916-91EF-DED78EC2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71LABS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32DA6-D4C9-4B39-9EE8-EE8176E6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6B4AB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A6B4AB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C43E0-BD8F-40D8-A9F3-8CB6CA5E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FFFFFF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FFFFFF"/>
                </a:solidFill>
                <a:latin typeface="Nimbus Roman"/>
                <a:ea typeface="Nimbus Roman"/>
                <a:cs typeface="Nimbus Roman"/>
              </a:rPr>
              <a:t>The gap sits between AI ambition and working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E9D94-31F3-4871-BBD7-E1C04F93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4C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CBD4CE"/>
                </a:solidFill>
                <a:latin typeface="Nimbus Sans"/>
                <a:ea typeface="Nimbus Sans"/>
                <a:cs typeface="Nimbus Sans"/>
              </a:rPr>
              <a:t>Companies can access powerful models. Most still need a team that can redesign the workflow, integrate the software and own delivery.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27F5C-A81A-4B4A-8D16-4D18CC7A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EF45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C8EF45"/>
                </a:solidFill>
                <a:latin typeface="Nimbus Sans"/>
                <a:ea typeface="Nimbus Sans"/>
                <a:cs typeface="Nimbus Sans"/>
              </a:rPr>
              <a:t>The commercial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AF9E7-8D7C-4844-B969-7A89641C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defRPr>
            </a:pPr>
            <a:r>
              <a:rPr sz="285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rPr>
              <a:t>Practical implementation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F23D8-2D7A-4A65-A89C-B5E82531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BB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AEBBB3"/>
                </a:solidFill>
                <a:latin typeface="Nimbus Sans"/>
                <a:ea typeface="Nimbus Sans"/>
                <a:cs typeface="Nimbus Sans"/>
              </a:rPr>
              <a:t>Sell a measurable operational outcome rather than an isolated chatbot or design file.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6663D-12BB-4E9B-B1EA-57E97766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371475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102A2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54EB8-88C9-49C4-B150-842750F9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00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EF45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C8EF45"/>
                </a:solidFill>
                <a:latin typeface="Nimbus Sans"/>
                <a:ea typeface="Nimbus Sans"/>
                <a:cs typeface="Nimbus Sans"/>
              </a:rPr>
              <a:t>BUYERS NEED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97A3A-329A-4AC2-B228-7BF81DC1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765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Nimbus Roman"/>
                <a:ea typeface="Nimbus Roman"/>
                <a:cs typeface="Nimbus Roman"/>
              </a:defRPr>
            </a:pPr>
            <a:r>
              <a:rPr sz="2325" b="0">
                <a:solidFill>
                  <a:srgbClr val="FFFFFF"/>
                </a:solidFill>
                <a:latin typeface="Nimbus Roman"/>
                <a:ea typeface="Nimbus Roman"/>
                <a:cs typeface="Nimbus Roman"/>
              </a:rPr>
              <a:t>One accountable 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EF9B6-AEC1-4350-A539-DFD6DDFE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62350"/>
            <a:ext cx="2571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2DB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D7E2DB"/>
                </a:solidFill>
                <a:latin typeface="Nimbus Sans"/>
                <a:ea typeface="Nimbus Sans"/>
                <a:cs typeface="Nimbus Sans"/>
              </a:rPr>
              <a:t>Clear business case</a:t>
            </a:r>
          </a:p>
          <a:p xmlns:a="http://schemas.openxmlformats.org/drawingml/2006/main">
            <a:pPr algn="l">
              <a:defRPr sz="1575" b="0">
                <a:solidFill>
                  <a:srgbClr val="D7E2DB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D7E2DB"/>
                </a:solidFill>
                <a:latin typeface="Nimbus Sans"/>
                <a:ea typeface="Nimbus Sans"/>
                <a:cs typeface="Nimbus Sans"/>
              </a:rPr>
              <a:t>Production software</a:t>
            </a:r>
          </a:p>
          <a:p xmlns:a="http://schemas.openxmlformats.org/drawingml/2006/main">
            <a:pPr algn="l">
              <a:defRPr sz="1575" b="0">
                <a:solidFill>
                  <a:srgbClr val="D7E2DB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D7E2DB"/>
                </a:solidFill>
                <a:latin typeface="Nimbus Sans"/>
                <a:ea typeface="Nimbus Sans"/>
                <a:cs typeface="Nimbus Sans"/>
              </a:rPr>
              <a:t>Design that earns trust</a:t>
            </a:r>
          </a:p>
          <a:p xmlns:a="http://schemas.openxmlformats.org/drawingml/2006/main">
            <a:pPr algn="l">
              <a:defRPr sz="1575" b="0">
                <a:solidFill>
                  <a:srgbClr val="D7E2DB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D7E2DB"/>
                </a:solidFill>
                <a:latin typeface="Nimbus Sans"/>
                <a:ea typeface="Nimbus Sans"/>
                <a:cs typeface="Nimbus Sans"/>
              </a:rPr>
              <a:t>Support after launch</a:t>
            </a:r>
          </a:p>
        </p:txBody>
      </p:sp>
    </p:spTree>
    <p:extLst>
      <p:ext uri="{BB962C8B-B14F-4D97-AF65-F5344CB8AC3E}">
        <p14:creationId xmlns:p14="http://schemas.microsoft.com/office/powerpoint/2010/main" val="1442144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FAEC99-9BD2-47D5-94C9-ECC16696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71LABS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F1488-A6C1-4B44-9680-F5269C38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C8E6B-C345-4D2B-AF5F-FF67B823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627"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Three offers create a clear path from uncertainty to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202E6-20CE-427F-83B6-8D215B06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PRODUCT VALIDATION SPRINT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B8F95-4671-41D1-B8E0-C09A90C8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5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$3k–$6k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C266C-6E88-4EE9-9D20-87168A80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14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10–15 working days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E239F-8F30-4B5C-BE88-29A2D499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Research, requirements, prototype and technical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D5A69-87DF-4089-A87C-2DE43BBD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B3FB5-178C-48BF-817E-3C40B534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AI OPERATIONS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3B38E-DFB7-472B-98B1-D6B59E50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909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5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$7.5k–$15k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55B29-7694-4564-86E3-1377DD1C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48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4–6 weeks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AD237-4084-490D-B6CA-B0C328C2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099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A custom workflow system tied to a measurable business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21898-D391-4C80-B87E-E48EAB69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78D58-781C-4F06-92A6-B2921378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VENTURE MVP SPRINT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00668-447F-4964-B39C-49880131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24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5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$12k–$25k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7798E-811D-4CD0-8FCE-FB397E1E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81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6–10 weeks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A3F2F-BCA9-4166-901E-FFB9437E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434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Strategy, brand, product design, engineering and launch assets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18857-0B90-46CE-B0C5-43E7682C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Validation lowers the first commitment. Strong discovery then converts qualified clients into larger builds.</a:t>
            </a:r>
          </a:p>
        </p:txBody>
      </p:sp>
    </p:spTree>
    <p:extLst>
      <p:ext uri="{BB962C8B-B14F-4D97-AF65-F5344CB8AC3E}">
        <p14:creationId xmlns:p14="http://schemas.microsoft.com/office/powerpoint/2010/main" val="21396287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F46C0-E8D2-4E52-A706-5AE9330D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71LABS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FEA71-C7AC-4DD3-95D5-35DD1ABF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B6273-F071-458C-B999-7F7FF6CF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34"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AI operations systems turn fragmented work into one reliable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A8B59-7F33-4DF9-A29B-47367A67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HIGH-VALUE USE CASES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C2929-3724-49FB-87F1-4B9A00D5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5EE28-CC07-44E4-95D8-21C0894B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336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569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0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Customer support and lead qualification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A3260-D78D-41C4-8036-C3B0E9D3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003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13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Respond faster and route serious prospects to the right person.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1521D-D579-45AA-95B7-14F496BC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05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20274-D629-40BB-8976-974B0ACB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C8A65-F901-477B-95F7-939D5454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146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0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Document processing and reporting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3B8B3-85BD-4F95-80B2-1B4F5E8B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813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9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Convert scattered inputs into structured records and useful reports.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46F21-E504-4D54-BB60-E055F380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61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F4A18-3916-4BFA-8128-083291B5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E36F9-BC06-42C3-A78F-B74A9206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957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0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Client onboarding and follow-up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E10CB-6996-4D47-81CE-CA3C5380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624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14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Keep every required step visible and automate routine communication.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D48FE0-CDB3-49D6-86E9-F0AF1448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672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0B48E4-D947-419B-AD31-68899C1B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93B83-C879-406F-8092-FAB4F834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767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0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Internal knowledge and research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75C771-2821-4B31-B6AB-CA54CB2B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43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87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Give teams one dependable place to search company information.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2A977-6C05-4372-8CBD-9111B506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482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D24F8-5540-4E71-82DF-301A73DF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Commercial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53908-0616-45D5-9F0F-70FB8F79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73405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20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02A20"/>
                </a:solidFill>
                <a:latin typeface="Nimbus Sans"/>
                <a:ea typeface="Nimbus Sans"/>
                <a:cs typeface="Nimbus Sans"/>
              </a:rPr>
              <a:t>Implementation fee plus $750–$2,000 monthly support</a:t>
            </a:r>
          </a:p>
        </p:txBody>
      </p:sp>
    </p:spTree>
    <p:extLst>
      <p:ext uri="{BB962C8B-B14F-4D97-AF65-F5344CB8AC3E}">
        <p14:creationId xmlns:p14="http://schemas.microsoft.com/office/powerpoint/2010/main" val="19700699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FEADD-D672-44D9-8072-9037F4D0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71LABS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FC3FC-CB8C-48BB-BBDA-FC2EC978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0494C-29AA-4E5B-8CD0-EC00A0D4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55"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The venture sprint compresses a complete product team into one engagement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EAEDE-FA92-40A9-A1E7-67CC4E70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52E0E-F1FB-4207-81E0-33E743A7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977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17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Product strategy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1658A-360C-4789-89FB-BEF9D6EE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DCEDF-958F-42A3-AB6A-CCECCE70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908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7C30B-3FB0-438C-89B0-64CE7209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14625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977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17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Brand direction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E7CEA-B205-4AB0-BCBA-4DE96F3B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97558-ACDD-4069-B470-B7D6D649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1244A-56C9-4D89-B75C-832976EF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977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17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UX and interface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C4519-4552-4094-A586-2978C0C6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528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3F21A-D85F-4EDE-8656-086B6AC6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95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74D1D-9DD7-414A-96E9-2F7A2DB5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43375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977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17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Engineering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1265F-8C6E-4CB1-8D08-1AD0DE5F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9EF4C-DFD5-4102-A8E9-D38E6219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D609D-10EA-4E0B-9CE5-B50B90C7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977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17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Launch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AE64B-394A-4186-A931-C14310AB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816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578CA3-94B8-47ED-AD42-49E3B222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47625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102A2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00266C-0E8D-467D-9D4E-21A12854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33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EF45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C8EF45"/>
                </a:solidFill>
                <a:latin typeface="Nimbus Sans"/>
                <a:ea typeface="Nimbus Sans"/>
                <a:cs typeface="Nimbus Sans"/>
              </a:rPr>
              <a:t>CLIENT OUTCOME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1DF97F-4A69-46C1-B373-058B76F8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51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defRPr>
            </a:pPr>
            <a:r>
              <a:rPr sz="300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rPr>
              <a:t>A credible product, ready for users and the next funding conversation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54440-ECBA-4F72-92DA-1355FE14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33900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5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8D6CD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C8D6CD"/>
                </a:solidFill>
                <a:latin typeface="Nimbus Sans"/>
                <a:ea typeface="Nimbus Sans"/>
                <a:cs typeface="Nimbus Sans"/>
              </a:rPr>
              <a:t>Best fit: funded founders, venture portfolios, ecosystem grant recipients and established teams launching new products.</a:t>
            </a:r>
          </a:p>
        </p:txBody>
      </p:sp>
    </p:spTree>
    <p:extLst>
      <p:ext uri="{BB962C8B-B14F-4D97-AF65-F5344CB8AC3E}">
        <p14:creationId xmlns:p14="http://schemas.microsoft.com/office/powerpoint/2010/main" val="16835053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F21307-FCE2-4609-A3E2-E8F265A4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71LABS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53203-959F-4B81-AAD7-A684C79F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673E1-1850-450B-A391-1D300F99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Five disciplines operate as one product launch team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196CB-6E3D-41F8-B432-D011CD89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33355-E52E-403D-85F9-77DB2AE3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90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PRIMARY OWNERSHIP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FEF0E-3FD7-4557-94AD-FD002702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ROLE IN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EDFB0-50C6-4253-B8BD-E7625D42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0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Sele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B80DF-175A-4D48-92B1-010FAC89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Technology and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36458-AF57-484E-B326-1FCC0EC0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33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Technical direction and final 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A7BA0-D546-4332-B2C1-5E90647E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908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E2143-5584-45D0-8344-DA9D0A49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0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Vanessa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A5C64-2362-4035-90B7-4A3DA0B7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194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Operations and partnerships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D32ED-89C1-400A-A4F1-9DE9E484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194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Pipeline, proposals and client operations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6E7A4-3D86-4D44-A3BF-BABB4FCE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D9444-E686-4BF0-950B-5A19C374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0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Eli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345E3A-A22F-4000-9566-B04FCE17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05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Product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C70A6-5922-4F5D-9AF7-5149064F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052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Product strategy and user experience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E43018-8E44-444C-A872-B74DD4B0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624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0CD9DE-BA99-4ED8-8F1A-46EBC3E3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2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0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Priest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C0DE6D-04C2-4B0E-BDDD-79438720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Graphics and illustration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89D579-57BF-47DB-BD26-4071A5AB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910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Visual identity and launch assets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FAC8BE-0FCC-4201-9DF3-C1256CB2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482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703B3A-A544-47DC-AB0F-2366B6A8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0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Adeola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3A6EF3-5736-4012-99A6-0BC9DC0E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768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Social and distribution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365174-89C9-4717-8BE0-0D5F6252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768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Content, community and distribution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E401CF-5064-40E9-8ABA-4A2FFBCD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340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9AB95C-EB70-40F6-B68B-286AF3D0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0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02A20"/>
                </a:solidFill>
                <a:latin typeface="Nimbus Sans"/>
                <a:ea typeface="Nimbus Sans"/>
                <a:cs typeface="Nimbus Sans"/>
              </a:rPr>
              <a:t>Technical sales stays close to delivery. Every engagement receives product, brand and distribution support.</a:t>
            </a:r>
          </a:p>
        </p:txBody>
      </p:sp>
    </p:spTree>
    <p:extLst>
      <p:ext uri="{BB962C8B-B14F-4D97-AF65-F5344CB8AC3E}">
        <p14:creationId xmlns:p14="http://schemas.microsoft.com/office/powerpoint/2010/main" val="11341682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2E0949-4CEA-4CDE-91F3-F2C38AD3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71LABS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34786-88E2-47CA-BF44-87780C35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6B4AB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A6B4AB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14A67-941C-46B6-B37E-B6541550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401"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FFFFFF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FFFFFF"/>
                </a:solidFill>
                <a:latin typeface="Nimbus Roman"/>
                <a:ea typeface="Nimbus Roman"/>
                <a:cs typeface="Nimbus Roman"/>
              </a:rPr>
              <a:t>The commercial engine combines direct outreach with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D5CFF-2540-4598-95FA-0421D033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EF45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C8EF45"/>
                </a:solidFill>
                <a:latin typeface="Nimbus Sans"/>
                <a:ea typeface="Nimbus Sans"/>
                <a:cs typeface="Nimbus Sans"/>
              </a:rPr>
              <a:t>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80F70-2DDC-49ED-89CB-56759958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312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704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defRPr>
            </a:pPr>
            <a:r>
              <a:rPr sz="270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rPr>
              <a:t>200 qualified accounts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086A9-A1EA-4B34-A4D6-87DE43D6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3028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4BC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B8C4BC"/>
                </a:solidFill>
                <a:latin typeface="Nimbus Sans"/>
                <a:ea typeface="Nimbus Sans"/>
                <a:cs typeface="Nimbus Sans"/>
              </a:rPr>
              <a:t>Funded startups, venture portfolios, fintechs and service businesses with visible workflow pain.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D4C41-E146-4B3E-BFD7-68642917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14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EF45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C8EF45"/>
                </a:solidFill>
                <a:latin typeface="Nimbus Sans"/>
                <a:ea typeface="Nimbus Sans"/>
                <a:cs typeface="Nimbus Sans"/>
              </a:rPr>
              <a:t>PROVE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9ABB6-77E9-4FF0-BFD4-A1E54F87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312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defRPr>
            </a:pPr>
            <a:r>
              <a:rPr sz="270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rPr>
              <a:t>Three live demonstrations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5D9B4-1EF6-4685-AAE4-1687C311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14750"/>
            <a:ext cx="3028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4BC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B8C4BC"/>
                </a:solidFill>
                <a:latin typeface="Nimbus Sans"/>
                <a:ea typeface="Nimbus Sans"/>
                <a:cs typeface="Nimbus Sans"/>
              </a:rPr>
              <a:t>AI support, document intelligence and a fintech onboarding experience.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FCADB-5640-426F-8E97-0779BC99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EF45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C8EF45"/>
                </a:solidFill>
                <a:latin typeface="Nimbus Sans"/>
                <a:ea typeface="Nimbus Sans"/>
                <a:cs typeface="Nimbus Sans"/>
              </a:rPr>
              <a:t>CONVERT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B3840-EDA5-47D8-A6AB-5E7271D1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71750"/>
            <a:ext cx="312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defRPr>
            </a:pPr>
            <a:r>
              <a:rPr sz="270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rPr>
              <a:t>15 discovery calls monthly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22CD3-DB66-4EC5-B8A3-55B9DC42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3028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4BC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B8C4BC"/>
                </a:solidFill>
                <a:latin typeface="Nimbus Sans"/>
                <a:ea typeface="Nimbus Sans"/>
                <a:cs typeface="Nimbus Sans"/>
              </a:rPr>
              <a:t>A focused diagnosis leads to a paid validation sprint or implementation proposal.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7A7FF-860F-49D4-8529-C46CD3C3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4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F0006-E77E-4C8E-A599-33FF65DD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Weekly rhythm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6D3AA-1D72-42BA-B9B3-88A68494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102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100 targeted touches, 4–6 calls, 2 useful publications and 1 partnership conversation</a:t>
            </a:r>
          </a:p>
        </p:txBody>
      </p:sp>
    </p:spTree>
    <p:extLst>
      <p:ext uri="{BB962C8B-B14F-4D97-AF65-F5344CB8AC3E}">
        <p14:creationId xmlns:p14="http://schemas.microsoft.com/office/powerpoint/2010/main" val="1135066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F0954-8EC2-4E24-B5DF-81EC0751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71LABS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0A769-2DE8-4E15-A82A-33AF4EDC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B3355-C009-41E4-A1F3-26049EFF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The first 90 days prioritize sales, proof and repeatability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8D882-00E3-4A2A-A280-3B7A3A68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OCTOBER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55963-495F-4561-9032-265DADC2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319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47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Launch and sell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30616-B554-406B-9AB2-42858A26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3143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Website, sales deck and first AI demo live.</a:t>
            </a:r>
          </a:p>
          <a:p xmlns:a="http://schemas.openxmlformats.org/drawingml/2006/main">
            <a:pPr algn="l">
              <a:def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15 discovery calls. Three paid validation sprints.</a:t>
            </a:r>
          </a:p>
          <a:p xmlns:a="http://schemas.openxmlformats.org/drawingml/2006/main">
            <a:pPr algn="l">
              <a:def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$10k–$15k booked.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CDDA9-F7C7-4AD7-89B2-41F203C7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38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NOVEMBER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72C8C-A628-4B58-A1BE-FC444405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76500"/>
            <a:ext cx="319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47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Deliver and expand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AAF92-141A-4352-A5CB-B479D3FA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57550"/>
            <a:ext cx="3143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Convert discovery into implementations.</a:t>
            </a:r>
          </a:p>
          <a:p xmlns:a="http://schemas.openxmlformats.org/drawingml/2006/main">
            <a:pPr algn="l">
              <a:def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Publish first client proof. Build partner pipeline.</a:t>
            </a:r>
          </a:p>
          <a:p xmlns:a="http://schemas.openxmlformats.org/drawingml/2006/main">
            <a:pPr algn="l">
              <a:def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$15k–$25k booked.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70F70-2B44-4A83-A912-3C7327B2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38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DECEMBER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DA389-00D0-418D-88D2-0337B952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319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247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Close and retain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73E26-3EE1-4E89-8B9B-9F619E0C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3143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Win one premium build. Add support retainers.</a:t>
            </a:r>
          </a:p>
          <a:p xmlns:a="http://schemas.openxmlformats.org/drawingml/2006/main">
            <a:pPr algn="l">
              <a:def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Secure January work before the holiday slowdown.</a:t>
            </a:r>
          </a:p>
          <a:p xmlns:a="http://schemas.openxmlformats.org/drawingml/2006/main">
            <a:pPr algn="l">
              <a:def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$20k–$30k booked.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B73E8-E082-47E3-B92E-98C0525F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CA229-6D6F-4F78-BB5A-546CD385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5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0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02A20"/>
                </a:solidFill>
                <a:latin typeface="Nimbus Sans"/>
                <a:ea typeface="Nimbus Sans"/>
                <a:cs typeface="Nimbus Sans"/>
              </a:rPr>
              <a:t>September prepares the launch: finalize roles, pricing, proof assets, contracts and the first 200-account prospect list.</a:t>
            </a:r>
          </a:p>
        </p:txBody>
      </p:sp>
    </p:spTree>
    <p:extLst>
      <p:ext uri="{BB962C8B-B14F-4D97-AF65-F5344CB8AC3E}">
        <p14:creationId xmlns:p14="http://schemas.microsoft.com/office/powerpoint/2010/main" val="19422979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829ED-ABFE-4E88-B6F5-4BCC3EAD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71LABS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B6811-D92F-4326-96BE-F30A57F0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E50E1-63A1-4290-A588-410D0577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164"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A $50,000 booking target needs six core sales plus retainers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14350" y="209550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3335c26e30436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193ED-0696-49E9-8DD5-5C86C995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85950"/>
            <a:ext cx="3333750" cy="35242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4F2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88287-D02D-43B7-85B0-158EFBDE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0E98B-014C-479A-87F1-BDDE69D8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390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$50,000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54C65-3E9E-4849-97C5-0A80D72F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Booked revenue</a:t>
            </a:r>
          </a:p>
          <a:p xmlns:a="http://schemas.openxmlformats.org/drawingml/2006/main">
            <a:pPr algn="l">
              <a:def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October–December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F76FF-9A74-44FC-9652-966A1FA3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053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20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02A20"/>
                </a:solidFill>
                <a:latin typeface="Nimbus Sans"/>
                <a:ea typeface="Nimbus Sans"/>
                <a:cs typeface="Nimbus Sans"/>
              </a:rPr>
              <a:t>Assumption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F3D85-07B9-424C-AA30-CE31DADD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291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50% upfront payment protects cash 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6CB28-9C1D-4247-AF11-B337F5D7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Aggressive planning target, not guaranteed revenue. Track bookings, cash collected and delivery margin separately.</a:t>
            </a:r>
          </a:p>
        </p:txBody>
      </p:sp>
    </p:spTree>
    <p:extLst>
      <p:ext uri="{BB962C8B-B14F-4D97-AF65-F5344CB8AC3E}">
        <p14:creationId xmlns:p14="http://schemas.microsoft.com/office/powerpoint/2010/main" val="4272122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EDB1DD-EED0-4ABA-9B6C-BE02A86C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71LABS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1F950-7F62-4969-ADA3-7E7D7DE7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706E4-5434-404C-89C8-7D57800E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Clear ownership keeps a small team fast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28201-7C7F-4D11-8741-0B1A71FA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OWNER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2F2A7-B596-4018-88C2-9FA9DBB0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66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ACCOUNTABILITY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4662B-530D-4167-94D5-00F18109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C762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FC762"/>
                </a:solidFill>
                <a:latin typeface="Nimbus Sans"/>
                <a:ea typeface="Nimbus Sans"/>
                <a:cs typeface="Nimbus Sans"/>
              </a:rPr>
              <a:t>WEEKLY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96F4C-49A0-4E1F-A15A-F1D5537E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385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19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Sele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B13F0-CDC7-4096-A5BA-5DC3729A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717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Engineering, architecture, technical sales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BE4E3-8291-4E47-BDCB-061C5BF5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Milestones shipped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21D99-F58C-453F-A113-2733642B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289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5E6CC-208D-41F8-BCF2-AC2FFC37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385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19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Vanessa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C52DE-741C-471E-9CF4-A8B33F9C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575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Operations, pipeline, proposals, partnerships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D852A-DA8A-43C4-94E9-A0443F89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Calls and proposals advanced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EF53D-278B-4F48-95C5-7391E3ED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147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5F1A1C-536D-49EC-9E60-A88B2891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385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19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Eli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802DA-1935-4210-8529-F13FDEE8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433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Product strategy, UX and interface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9FB99-91D7-4199-9E42-0F28F841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433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Approved flows and interfaces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D3E943-FCAD-4430-BAC8-99305C69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00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D39419-67B9-461E-BCAC-A4598914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385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19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Priest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F828A-39D4-4E97-847E-1939100D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29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Identity, illustration and campaign assets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B278BE-25C2-4390-87FF-338A61A7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Sales and launch assets completed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D0779E-C24B-4C58-9DE7-FFC30F29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863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8F2675-BC95-459B-A250-0945E791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385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defRPr>
            </a:pPr>
            <a:r>
              <a:rPr sz="1950" b="0">
                <a:solidFill>
                  <a:srgbClr val="101713"/>
                </a:solidFill>
                <a:latin typeface="Nimbus Roman"/>
                <a:ea typeface="Nimbus Roman"/>
                <a:cs typeface="Nimbus Roman"/>
              </a:rPr>
              <a:t>Adeola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C5077D-AA5E-4659-8E24-C7FCD751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1149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101713"/>
                </a:solidFill>
                <a:latin typeface="Nimbus Sans"/>
                <a:ea typeface="Nimbus Sans"/>
                <a:cs typeface="Nimbus Sans"/>
              </a:rPr>
              <a:t>Content, community and social distribution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6EFCF7-593E-4793-BBE3-992D24F6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149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67068"/>
                </a:solidFill>
                <a:latin typeface="Nimbus Sans"/>
                <a:ea typeface="Nimbus Sans"/>
                <a:cs typeface="Nimbus Sans"/>
              </a:rPr>
              <a:t>Qualified inbound conversations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EFDCE6-8D24-4576-8EE9-B950CEDE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7D9461-0E44-4118-AFA3-7A4BF706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0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02A20"/>
                </a:solidFill>
                <a:latin typeface="Nimbus Sans"/>
                <a:ea typeface="Nimbus Sans"/>
                <a:cs typeface="Nimbus Sans"/>
              </a:rPr>
              <a:t>Shared rule: the person closest to the result owns the client communication around it.</a:t>
            </a:r>
          </a:p>
        </p:txBody>
      </p:sp>
    </p:spTree>
    <p:extLst>
      <p:ext uri="{BB962C8B-B14F-4D97-AF65-F5344CB8AC3E}">
        <p14:creationId xmlns:p14="http://schemas.microsoft.com/office/powerpoint/2010/main" val="7450105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A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42754-D9D4-46B2-839F-ECBAFC88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71LABS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5F294-A289-472C-A771-683EF139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6B4AB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A6B4AB"/>
                </a:solidFill>
                <a:latin typeface="Nimbus Sans"/>
                <a:ea typeface="Nimbus Sans"/>
                <a:cs typeface="Nimbus San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4393B-0215-4D98-81B6-1BC0C718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EF45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C8EF45"/>
                </a:solidFill>
                <a:latin typeface="Nimbus Sans"/>
                <a:ea typeface="Nimbus Sans"/>
                <a:cs typeface="Nimbus Sans"/>
              </a:rPr>
              <a:t>The launch mandate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27C3F-ADBE-4099-89EE-1C4E00B3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defRPr>
            </a:pPr>
            <a:r>
              <a:rPr sz="405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rPr>
              <a:t>Win trust quickly.</a:t>
            </a:r>
          </a:p>
          <a:p xmlns:a="http://schemas.openxmlformats.org/drawingml/2006/main">
            <a:pPr algn="l">
              <a:defRPr sz="405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defRPr>
            </a:pPr>
            <a:r>
              <a:rPr sz="405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rPr>
              <a:t>Deliver visible value.</a:t>
            </a:r>
          </a:p>
          <a:p xmlns:a="http://schemas.openxmlformats.org/drawingml/2006/main">
            <a:pPr algn="l">
              <a:defRPr sz="405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defRPr>
            </a:pPr>
            <a:r>
              <a:rPr sz="4050" b="0">
                <a:solidFill>
                  <a:srgbClr val="FFFFFF"/>
                </a:solidFill>
                <a:latin typeface="Nimbus Roman"/>
                <a:ea typeface="Nimbus Roman"/>
                <a:cs typeface="Nimbus Roman"/>
              </a:rPr>
              <a:t>Turn each build into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934CE-EFAC-4455-9E35-AECE453D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0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AF4D9-071F-4C71-B02D-F06EE964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EF45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C8EF45"/>
                </a:solidFill>
                <a:latin typeface="Nimbus Sans"/>
                <a:ea typeface="Nimbus Sans"/>
                <a:cs typeface="Nimbus Sans"/>
              </a:rPr>
              <a:t>01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E6631-6D2D-4E20-BC2B-A8FD29CE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71Labs begins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9D6EB-D3B0-4422-B5E9-7B551869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EF45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C8EF45"/>
                </a:solidFill>
                <a:latin typeface="Nimbus Sans"/>
                <a:ea typeface="Nimbus Sans"/>
                <a:cs typeface="Nimbus Sans"/>
              </a:rPr>
              <a:t>Immediate 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6E3D9-8FBE-4423-9CBD-62240AA6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2DED6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D2DED6"/>
                </a:solidFill>
                <a:latin typeface="Nimbus Sans"/>
                <a:ea typeface="Nimbus Sans"/>
                <a:cs typeface="Nimbus Sans"/>
              </a:rPr>
              <a:t>Confirm offer scope, compensation, sales ownership and September deliverables.</a:t>
            </a:r>
          </a:p>
        </p:txBody>
      </p:sp>
    </p:spTree>
    <p:extLst>
      <p:ext uri="{BB962C8B-B14F-4D97-AF65-F5344CB8AC3E}">
        <p14:creationId xmlns:p14="http://schemas.microsoft.com/office/powerpoint/2010/main" val="1584724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2026-09-10T08:53:36.9950000Z</dcterms:created>
  <dcterms:modified xsi:type="dcterms:W3CDTF">2026-09-10T08:53:36.9950000Z</dcterms:modified>
</coreProperties>
</file>